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46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1.png"/><Relationship Id="rId5" Type="http://schemas.openxmlformats.org/officeDocument/2006/relationships/image" Target="../media/image25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E5496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solidFill>
            <a:srgbClr val="BA7517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Ymmo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déploiement d'une infrastructure réseau multi-sites sécurisée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4526280"/>
            <a:ext cx="2743200" cy="0"/>
          </a:xfrm>
          <a:prstGeom prst="line">
            <a:avLst/>
          </a:prstGeom>
          <a:noFill/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Adrien Yapoudjian – Thomas Ribeiro – Ugo Coste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0" y="5029200"/>
            <a:ext cx="1097280" cy="109728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693" y="5314493"/>
            <a:ext cx="526694" cy="526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86968" y="1956816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209946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besoin client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556248" y="1956816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209946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2376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85800" y="2862072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86968" y="3035808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" y="31784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273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moyens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55080" y="2862072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556248" y="3035808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8894" y="317845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23760" y="3273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— réseau &amp; sécurité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85800" y="394106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886968" y="4114800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" y="425744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43525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&amp; domaine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355080" y="394106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556248" y="4114800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8894" y="425744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23760" y="43525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droits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85800" y="5020056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7"/>
          <p:cNvSpPr/>
          <p:nvPr/>
        </p:nvSpPr>
        <p:spPr>
          <a:xfrm>
            <a:off x="886968" y="5193792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14" y="5336438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51297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554480" y="54315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Ymmo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6355080" y="5020056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1"/>
          <p:cNvSpPr/>
          <p:nvPr/>
        </p:nvSpPr>
        <p:spPr>
          <a:xfrm>
            <a:off x="6556248" y="5193792"/>
            <a:ext cx="548640" cy="54864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8894" y="5336438"/>
            <a:ext cx="263347" cy="26334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223760" y="51297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7223760" y="54315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bilan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besoin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Ymmo est un réseau d'agences immobilières en pleine croissance. Le siège d'Aix-en-Provence pilote 12 agences réparties sur le territoire, qui doivent toutes accéder aux mêmes ressources de façon sécurisée.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98080" y="1755648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217" y="188878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56448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les 13 sites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56448" y="19842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infrastructure unique reliant siège et agences distantes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2633472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7498080" y="283464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217" y="296777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56448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Cloisonner les services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156448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pôle isolé : Direction, Commercial, Marketing, RH, IT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0" y="3712464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7498080" y="3913632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217" y="404676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3831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accès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156448" y="4142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droits par profil métier sur les ressources partagées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15200" y="4791456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7498080" y="4992624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217" y="5125761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56448" y="4910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Héberger l'application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156448" y="52212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de gestion des biens accessible partout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85800" y="30632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68580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27" name="Text 21"/>
          <p:cNvSpPr/>
          <p:nvPr/>
        </p:nvSpPr>
        <p:spPr>
          <a:xfrm>
            <a:off x="6858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reliés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2834640" y="30632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283464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30" name="Text 24"/>
          <p:cNvSpPr/>
          <p:nvPr/>
        </p:nvSpPr>
        <p:spPr>
          <a:xfrm>
            <a:off x="283464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pôles métier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983480" y="30632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498348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4000" dirty="0"/>
          </a:p>
        </p:txBody>
      </p:sp>
      <p:sp>
        <p:nvSpPr>
          <p:cNvPr id="33" name="Text 27"/>
          <p:cNvSpPr/>
          <p:nvPr/>
        </p:nvSpPr>
        <p:spPr>
          <a:xfrm>
            <a:off x="498348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85800" y="470916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960120" y="50292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202" y="5231282"/>
            <a:ext cx="373075" cy="37307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65960" y="493776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 central  </a:t>
            </a: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offrir à une agence distante exactement le même accès aux ressources du siège qu'un poste interne, sans jamais exposer le réseau à l'extérieur.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4480560"/>
          </a:xfrm>
          <a:prstGeom prst="roundRect">
            <a:avLst>
              <a:gd name="adj" fmla="val 1224"/>
            </a:avLst>
          </a:prstGeom>
          <a:solidFill>
            <a:srgbClr val="2E5496">
              <a:alpha val="65000"/>
            </a:srgbClr>
          </a:solidFill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— AIX-EN-PROVENCE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4231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560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0332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14400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" y="40416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499616" y="3108960"/>
            <a:ext cx="0" cy="502920"/>
          </a:xfrm>
          <a:prstGeom prst="line">
            <a:avLst/>
          </a:prstGeom>
          <a:noFill/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2212848" y="36118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212848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212848" y="40416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10.10.20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98064" y="3108960"/>
            <a:ext cx="0" cy="502920"/>
          </a:xfrm>
          <a:prstGeom prst="line">
            <a:avLst/>
          </a:prstGeom>
          <a:noFill/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511296" y="36118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511296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Com&amp;Mktg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511296" y="40416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10.10.30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096512" y="3108960"/>
            <a:ext cx="0" cy="502920"/>
          </a:xfrm>
          <a:prstGeom prst="line">
            <a:avLst/>
          </a:prstGeom>
          <a:noFill/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809744" y="36118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809744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Admin-RH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09744" y="40416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10.10.40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394960" y="3108960"/>
            <a:ext cx="0" cy="502920"/>
          </a:xfrm>
          <a:prstGeom prst="line">
            <a:avLst/>
          </a:prstGeom>
          <a:noFill/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108192" y="36118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108192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108192" y="40416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10.10.50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693408" y="3108960"/>
            <a:ext cx="0" cy="502920"/>
          </a:xfrm>
          <a:prstGeom prst="line">
            <a:avLst/>
          </a:prstGeom>
          <a:noFill/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914400" y="4800600"/>
            <a:ext cx="6309360" cy="123444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1097280" y="4919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SERVEURS  ·  10.10.99.0/24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143000" y="525780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646" y="5400446"/>
            <a:ext cx="263347" cy="26334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78308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SRV-YMMO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1783080" y="5559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· DNS · DHCP · Fichiers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206240" y="525780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886" y="5400446"/>
            <a:ext cx="263347" cy="263347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84632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SRV-WEB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4846320" y="5559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Ymmo · MySQL</a:t>
            </a:r>
            <a:endParaRPr lang="en-US" sz="9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657600"/>
            <a:ext cx="594360" cy="5943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360920" y="4251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WAN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8549640" y="1783080"/>
            <a:ext cx="2971800" cy="4480560"/>
          </a:xfrm>
          <a:prstGeom prst="roundRect">
            <a:avLst>
              <a:gd name="adj" fmla="val 1846"/>
            </a:avLst>
          </a:prstGeom>
          <a:solidFill>
            <a:srgbClr val="2E5496">
              <a:alpha val="65000"/>
            </a:srgbClr>
          </a:solidFill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6"/>
          <p:cNvSpPr/>
          <p:nvPr/>
        </p:nvSpPr>
        <p:spPr>
          <a:xfrm>
            <a:off x="8732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DISTANTE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692640" y="2606040"/>
            <a:ext cx="777240" cy="77724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4722" y="2808122"/>
            <a:ext cx="373075" cy="37307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73252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Agence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873252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10.10.60.0/24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969264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9061" y="4509821"/>
            <a:ext cx="307238" cy="30723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73252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commerciaux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8732520" y="5394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identique au siège  ·  mêmes droits, mêmes ressources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moyens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429000" cy="228600"/>
          </a:xfrm>
          <a:prstGeom prst="rect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&amp; réseau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7724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3172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réseaux VMnet (Host-only)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977640"/>
            <a:ext cx="29718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43726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4592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645920" y="4773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Routeur, pare-feu, DHCP relay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89120" y="169164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389120" y="169164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389120" y="2103120"/>
            <a:ext cx="3429000" cy="2286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457200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&amp; annuaire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617720" y="2606040"/>
            <a:ext cx="640080" cy="64008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141" y="277246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4924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349240" y="3172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DNS, DHCP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17720" y="3977640"/>
            <a:ext cx="29718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4617720" y="4206240"/>
            <a:ext cx="640080" cy="64008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141" y="437266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924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Partages NTFS + GPO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349240" y="4773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par groupe métier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092440" y="169164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5"/>
          <p:cNvSpPr/>
          <p:nvPr/>
        </p:nvSpPr>
        <p:spPr>
          <a:xfrm>
            <a:off x="8092440" y="169164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8092440" y="2103120"/>
            <a:ext cx="3429000" cy="2286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827532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321040" y="2606040"/>
            <a:ext cx="640080" cy="64008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7461" y="2772461"/>
            <a:ext cx="307238" cy="30723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05256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052560" y="3172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(port 3000)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321040" y="3977640"/>
            <a:ext cx="29718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2"/>
          <p:cNvSpPr/>
          <p:nvPr/>
        </p:nvSpPr>
        <p:spPr>
          <a:xfrm>
            <a:off x="8321040" y="4206240"/>
            <a:ext cx="640080" cy="64008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461" y="4372661"/>
            <a:ext cx="307238" cy="30723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05256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(XAMPP)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9052560" y="4773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projet_infra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RÉALISATION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 &amp; sécurité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au cœur de l'infrastructure : il route le trafic entre les VLANs, applique le pare-feu et relaie le DHCP du serveur vers chaque segment.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41832" y="2715768"/>
            <a:ext cx="868680" cy="86868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689" y="2941625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inter-VLAN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11680" y="30449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interfaces (WAN, LAN, 6 OPT). Chaque pôle sur son sous-réseau /24 avec passerelle dédiée.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42316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28232" y="2715768"/>
            <a:ext cx="868680" cy="86868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89" y="2941625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règles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98080" y="30449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trafic inter-pôles est bloqué par défaut ; seuls les flux vers les serveurs sont autorisés.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420624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941832" y="4498848"/>
            <a:ext cx="868680" cy="86868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689" y="4724705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34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Relay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011680" y="48280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serveur DHCP unique (SRV-YMMO) adresse tous les VLANs via le relais pfSense.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72200" y="420624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428232" y="4498848"/>
            <a:ext cx="868680" cy="86868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4089" y="4724705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434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interne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98080" y="48280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ymmo.local résolue par le serveur ; app.ymmo.local pointe vers SRV-WEB.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RÉALISATION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Serveurs &amp; domaine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SRV-YMMO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2024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de domaine  ·  10.10.99.10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297180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" y="31025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953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60020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 ymmo.local, OUs par pôle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60120" y="374904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879" y="387979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7307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60020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interne + redirecteurs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60120" y="452628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879" y="46570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5079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600200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étendues, une par segment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60120" y="530352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879" y="543427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2852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600200" y="5577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Partages métier sécurisés NTFS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355080" y="16459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6" name="Shape 19"/>
          <p:cNvSpPr/>
          <p:nvPr/>
        </p:nvSpPr>
        <p:spPr>
          <a:xfrm>
            <a:off x="6629400" y="1920240"/>
            <a:ext cx="822960" cy="82296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3370" y="2134210"/>
            <a:ext cx="395021" cy="39502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8952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SRV-WEB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7589520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applicatif  ·  10.10.99.30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629400" y="297180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0159" y="3102559"/>
            <a:ext cx="241402" cy="24140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69480" y="2953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Node.js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726948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Express, port 3000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6629400" y="374904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0159" y="3879799"/>
            <a:ext cx="241402" cy="24140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69480" y="3730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web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726948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servie sur le port 8080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629400" y="452628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0159" y="4657039"/>
            <a:ext cx="241402" cy="24140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269480" y="4507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726948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Agences, biens, comptes agents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6629400" y="5303520"/>
            <a:ext cx="502920" cy="502920"/>
          </a:xfrm>
          <a:prstGeom prst="ellipse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0159" y="5434279"/>
            <a:ext cx="241402" cy="24140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269480" y="5285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au domaine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7269480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centralisée AD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droits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droits suivent le profil métier, pas la localisation : un commercial en agence a les mêmes accès qu'au siège, car c'est son groupe Active Directory qui décide.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23160"/>
          <a:ext cx="7955280" cy="33284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/ Groupe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Admin-RH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&amp; 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Admin-RH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 (commercial)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15400" y="242316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2E5496">
              <a:alpha val="70000"/>
            </a:srgbClr>
          </a:solidFill>
          <a:ln w="12700">
            <a:solidFill>
              <a:srgbClr val="5B7C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90982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098280" y="306324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DBF0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6"/>
          <p:cNvSpPr/>
          <p:nvPr/>
        </p:nvSpPr>
        <p:spPr>
          <a:xfrm>
            <a:off x="9098280" y="30632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/ écriture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98280" y="3776472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BF0D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098280" y="37764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784080" y="3776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98280" y="4489704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EEF1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9098280" y="44897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84080" y="4489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refusé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09828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: groupes AD → permissions NTFS sur les partages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MERGE INFRA × DEV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Ymmo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jonction des deux pôles : l'application développée par l'équipe DEV est déployée sur l'infrastructure et rendue accessible depuis chaque site.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645920" y="29260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30687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agence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42900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20440" y="27889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4389120" y="2926080"/>
            <a:ext cx="548640" cy="54864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766" y="30687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2044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+ routage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429000"/>
            <a:ext cx="365760" cy="365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63640" y="27889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2"/>
          <p:cNvSpPr/>
          <p:nvPr/>
        </p:nvSpPr>
        <p:spPr>
          <a:xfrm>
            <a:off x="7132320" y="29260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966" y="3068726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6364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SRV-WEB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26364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8080 + API 3000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429000"/>
            <a:ext cx="36576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06840" y="27889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6"/>
          <p:cNvSpPr/>
          <p:nvPr/>
        </p:nvSpPr>
        <p:spPr>
          <a:xfrm>
            <a:off x="9875520" y="29260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8166" y="3068726"/>
            <a:ext cx="263347" cy="2633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00684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métier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685800" y="470916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0"/>
          <p:cNvSpPr/>
          <p:nvPr/>
        </p:nvSpPr>
        <p:spPr>
          <a:xfrm>
            <a:off x="914400" y="4983480"/>
            <a:ext cx="640080" cy="64008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821" y="5149901"/>
            <a:ext cx="307238" cy="30723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691640" y="4956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agents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1691640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JWT, rôles admin / agent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4389120" y="470916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4617720" y="4983480"/>
            <a:ext cx="640080" cy="64008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141" y="5149901"/>
            <a:ext cx="307238" cy="30723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394960" y="4956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agences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5394960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des agences et de leurs biens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8092440" y="470916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28"/>
          <p:cNvSpPr/>
          <p:nvPr/>
        </p:nvSpPr>
        <p:spPr>
          <a:xfrm>
            <a:off x="8321040" y="4983480"/>
            <a:ext cx="640080" cy="64008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7461" y="5149901"/>
            <a:ext cx="307238" cy="30723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098280" y="4956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biens</a:t>
            </a:r>
            <a:endParaRPr lang="en-US" sz="1300" dirty="0"/>
          </a:p>
        </p:txBody>
      </p:sp>
      <p:sp>
        <p:nvSpPr>
          <p:cNvPr id="42" name="Text 30"/>
          <p:cNvSpPr/>
          <p:nvPr/>
        </p:nvSpPr>
        <p:spPr>
          <a:xfrm>
            <a:off x="9098280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filtres, fiches détaillées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DÉVELOPPEMENT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relationnel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tables liées par des clés étrangères structurent toute l'application : agences, utilisateurs, biens, demandes de contact et transactions.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A2438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4688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12 agences du réseau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A2438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321868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32186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admin &amp; agents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A2438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96849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96849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immobiliers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A2438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471830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contact_requests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471830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des clients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A2438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546811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ventes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DÉVELOPPEMENT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par rôle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distingue trois niveaux d'accès, du visiteur public à l'administrateur, chacun avec son propre périmètre d'actions.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2438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611880" cy="320040"/>
          </a:xfrm>
          <a:prstGeom prst="rect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Visiteur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le catalogue de biens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type &amp; transaction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fiches détaillées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une demande de contact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246888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2438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325112" y="246888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325112" y="2834640"/>
            <a:ext cx="3611880" cy="320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25112" y="24688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personnel sécurisé (JWT)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ses propres biens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statut de ses annonces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ses transactions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246888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2438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101584" y="246888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1A24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101584" y="2834640"/>
            <a:ext cx="3611880" cy="320040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101584" y="24688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Administrateur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75904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&amp; statistiques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tous les utilisateurs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toutes les agences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de tous les biens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ORGANISATION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des tâches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3429000" cy="274320"/>
          </a:xfrm>
          <a:prstGeom prst="rect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984248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18" y="208849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Thomas.R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sécurité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965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99032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: VLANs, règles, NAT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908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99032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Relay &amp; adressage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8523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99032" y="5257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multi-sites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389120" y="169164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2"/>
          <p:cNvSpPr/>
          <p:nvPr/>
        </p:nvSpPr>
        <p:spPr>
          <a:xfrm>
            <a:off x="4389120" y="16916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4389120" y="2834640"/>
            <a:ext cx="34290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5687568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538" y="2088490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Thomas.R</a:t>
            </a:r>
            <a:r>
              <a:rPr lang="en-US" sz="16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 &amp; </a:t>
            </a:r>
            <a:r>
              <a:rPr lang="en-US" sz="1600" b="1" dirty="0" err="1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Adrien.Y</a:t>
            </a:r>
            <a:endParaRPr lang="en-US" sz="1600" b="1" dirty="0">
              <a:solidFill>
                <a:srgbClr val="1A2438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389120" y="3566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&amp; annuaire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09651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02352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Server, AD, DNS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690872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02352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Partages NTFS &amp; GPO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5285232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02352" y="5257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droits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8092440" y="169164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1" name="Shape 21"/>
          <p:cNvSpPr/>
          <p:nvPr/>
        </p:nvSpPr>
        <p:spPr>
          <a:xfrm>
            <a:off x="8092440" y="16916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2"/>
          <p:cNvSpPr/>
          <p:nvPr/>
        </p:nvSpPr>
        <p:spPr>
          <a:xfrm>
            <a:off x="8092440" y="2834640"/>
            <a:ext cx="3429000" cy="2743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3"/>
          <p:cNvSpPr/>
          <p:nvPr/>
        </p:nvSpPr>
        <p:spPr>
          <a:xfrm>
            <a:off x="9390888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4858" y="2088490"/>
            <a:ext cx="395021" cy="395021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09244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Ugo.C</a:t>
            </a:r>
            <a:r>
              <a:rPr lang="en-US" sz="16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 &amp; </a:t>
            </a:r>
            <a:r>
              <a:rPr lang="en-US" sz="1600" b="1" dirty="0" err="1">
                <a:solidFill>
                  <a:srgbClr val="1A2438"/>
                </a:solidFill>
                <a:latin typeface="Cambria" pitchFamily="34" charset="0"/>
                <a:ea typeface="Cambria" pitchFamily="34" charset="-122"/>
              </a:rPr>
              <a:t>Adrien.Y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8092440" y="3566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intégration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096512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8805672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app Ymmo</a:t>
            </a:r>
            <a:endParaRPr lang="en-US" sz="11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690872"/>
            <a:ext cx="256032" cy="25603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805672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MySQL &amp; données</a:t>
            </a:r>
            <a:endParaRPr lang="en-US" sz="11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5285232"/>
            <a:ext cx="256032" cy="25603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805672" y="5257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INFRA × DEV</a:t>
            </a:r>
            <a:endParaRPr lang="en-US" sz="1100" dirty="0"/>
          </a:p>
        </p:txBody>
      </p:sp>
      <p:sp>
        <p:nvSpPr>
          <p:cNvPr id="43" name="Text 2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RETOUR D'EXPÉRIENCE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Problèmes rencontrés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60120" y="1984248"/>
            <a:ext cx="777240" cy="77724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18633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476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APIPA sur l'agence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920240" y="23317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poste agence n'obtenait pas d'IP.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0120" y="2990088"/>
            <a:ext cx="45720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00584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  </a:t>
            </a: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Relay configuré sur pfSense vers le serveur.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6446520" y="1984248"/>
            <a:ext cx="777240" cy="77724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186330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9476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Failed to fetch »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06640" y="23317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et back lancés sur le même port.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46520" y="2990088"/>
            <a:ext cx="45720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49224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  </a:t>
            </a: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: API sur 3000, front sur 8080.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85800" y="388620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960120" y="4178808"/>
            <a:ext cx="777240" cy="77724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02" y="4380890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4142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d'affichage des biens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920240" y="4526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Plantage du formatage de prix côté front.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60120" y="5184648"/>
            <a:ext cx="45720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1005840" y="5257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  </a:t>
            </a: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sécurisée (try/catch) + données vérifiées.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72200" y="388620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6446520" y="4178808"/>
            <a:ext cx="777240" cy="77724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380890"/>
            <a:ext cx="373075" cy="3730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6640" y="4142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</a:t>
            </a:r>
            <a:r>
              <a:rPr lang="en-US" sz="145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compromettant</a:t>
            </a: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ancient mots de passes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406640" y="4526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Impossibilité</a:t>
            </a: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 log sur les </a:t>
            </a:r>
            <a:r>
              <a:rPr lang="en-US" sz="1050" i="1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46520" y="5184648"/>
            <a:ext cx="457200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/>
          <p:nvPr/>
        </p:nvSpPr>
        <p:spPr>
          <a:xfrm>
            <a:off x="6492240" y="5257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 err="1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r>
              <a:rPr lang="en-US" sz="105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les mots de passe a la nouvelle GPO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E5496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BA7517">
              <a:alpha val="3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à la demonstration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32058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 domaine depuis l'agence distante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84048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3983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840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 droits : accès autorisé vs refusé selon le profil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68680" y="461772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76036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d'une IP par DHCP sur un VLAN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68680" y="539496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" y="553760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394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l'application Ymmo depuis l'agence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projet nous a apporté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4880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7568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 complète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560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segmenté, serveurs, annuaire et application fonctionnels de bout en bout.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1206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4880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7568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en équipe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560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 deux pôles (INFRA &amp; DEV) autour d'un objectif commun.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3749040"/>
            <a:ext cx="51206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960120" y="425196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02" y="4454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04164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résolution de pannes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526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méthodique : du symptôme à la cause, jusqu'au correctif.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749040"/>
            <a:ext cx="51206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446520" y="425196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4540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4164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vision production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06640" y="4526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sauvegarde, supervision et piste de migration cloud.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74720"/>
            <a:ext cx="5486400" cy="5486400"/>
          </a:xfrm>
          <a:prstGeom prst="ellipse">
            <a:avLst/>
          </a:prstGeom>
          <a:solidFill>
            <a:srgbClr val="2E549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2926080" cy="2926080"/>
          </a:xfrm>
          <a:prstGeom prst="ellipse">
            <a:avLst/>
          </a:prstGeom>
          <a:solidFill>
            <a:srgbClr val="BA7517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2743200" cy="0"/>
          </a:xfrm>
          <a:prstGeom prst="line">
            <a:avLst/>
          </a:prstGeom>
          <a:noFill/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vos questions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Ymmo  ·  Infrastructure réseau multi-sites  ·  Pôle INFRA &amp; DEV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332720" y="5394960"/>
            <a:ext cx="914400" cy="9144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4" y="563270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1143</Words>
  <Application>Microsoft Office PowerPoint</Application>
  <PresentationFormat>Grand écran</PresentationFormat>
  <Paragraphs>293</Paragraphs>
  <Slides>16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Ymmo — Infrastructure réseau</dc:title>
  <dc:subject>PptxGenJS Presentation</dc:subject>
  <dc:creator>Groupe Projet Ymmo</dc:creator>
  <cp:lastModifiedBy>YAPOUDJIAN Adrien</cp:lastModifiedBy>
  <cp:revision>4</cp:revision>
  <dcterms:created xsi:type="dcterms:W3CDTF">2026-06-11T19:51:11Z</dcterms:created>
  <dcterms:modified xsi:type="dcterms:W3CDTF">2026-06-11T23:31:34Z</dcterms:modified>
</cp:coreProperties>
</file>